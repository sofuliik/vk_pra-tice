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58" r:id="rId5"/>
    <p:sldId id="261" r:id="rId6"/>
    <p:sldId id="265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1808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53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0057D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206240"/>
            <a:ext cx="3108960" cy="3108960"/>
          </a:xfrm>
          <a:prstGeom prst="ellipse">
            <a:avLst/>
          </a:prstGeom>
          <a:solidFill>
            <a:srgbClr val="0057D9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Кейс №2 – </a:t>
            </a:r>
            <a:r>
              <a:rPr lang="en-US" sz="4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Поисковик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Недопекина Анна, Саралидзе София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174712"/>
            <a:ext cx="10241280" cy="751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MVP поискового сервиса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383280" cy="1870038"/>
          </a:xfrm>
          <a:prstGeom prst="roundRect">
            <a:avLst>
              <a:gd name="adj" fmla="val 4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5" name="Text 3"/>
          <p:cNvSpPr/>
          <p:nvPr/>
        </p:nvSpPr>
        <p:spPr>
          <a:xfrm>
            <a:off x="730622" y="2724373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5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4891" y="3206338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Собрать текстовые данные из открытого источника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(мы выбрали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паблик VK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nust.misis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Shape 6"/>
          <p:cNvSpPr/>
          <p:nvPr/>
        </p:nvSpPr>
        <p:spPr>
          <a:xfrm>
            <a:off x="4359089" y="2747683"/>
            <a:ext cx="3383280" cy="1870038"/>
          </a:xfrm>
          <a:prstGeom prst="roundRect">
            <a:avLst>
              <a:gd name="adj" fmla="val 4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9" name="Text 7"/>
          <p:cNvSpPr/>
          <p:nvPr/>
        </p:nvSpPr>
        <p:spPr>
          <a:xfrm>
            <a:off x="4580518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5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452770" y="3184712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Загрузить данные в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OpenSearch </a:t>
            </a:r>
          </a:p>
        </p:txBody>
      </p:sp>
      <p:sp>
        <p:nvSpPr>
          <p:cNvPr id="12" name="Shape 10"/>
          <p:cNvSpPr/>
          <p:nvPr/>
        </p:nvSpPr>
        <p:spPr>
          <a:xfrm>
            <a:off x="8055238" y="2739613"/>
            <a:ext cx="3383280" cy="1838662"/>
          </a:xfrm>
          <a:prstGeom prst="roundRect">
            <a:avLst>
              <a:gd name="adj" fmla="val 4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3" name="Text 11"/>
          <p:cNvSpPr/>
          <p:nvPr/>
        </p:nvSpPr>
        <p:spPr>
          <a:xfrm>
            <a:off x="8275320" y="2724373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5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7532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111715" y="3204659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u-RU" sz="1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HTTP API с поиском по BM25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C557678B-9A2B-43CD-8E50-D99A1D5AA293}"/>
              </a:ext>
            </a:extLst>
          </p:cNvPr>
          <p:cNvSpPr/>
          <p:nvPr/>
        </p:nvSpPr>
        <p:spPr>
          <a:xfrm>
            <a:off x="640080" y="2169459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3813D54B-F7F7-404F-BEF4-42B17DD1A916}"/>
              </a:ext>
            </a:extLst>
          </p:cNvPr>
          <p:cNvSpPr/>
          <p:nvPr/>
        </p:nvSpPr>
        <p:spPr>
          <a:xfrm>
            <a:off x="640080" y="414169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3FAC5685-03C3-4B14-91AD-CF6B3610EB96}"/>
              </a:ext>
            </a:extLst>
          </p:cNvPr>
          <p:cNvSpPr/>
          <p:nvPr/>
        </p:nvSpPr>
        <p:spPr>
          <a:xfrm>
            <a:off x="1295400" y="242944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30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174712"/>
            <a:ext cx="10241280" cy="751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0622" y="2724373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4891" y="3206338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80518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452770" y="3184712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75320" y="2724373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7532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111715" y="3204659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C557678B-9A2B-43CD-8E50-D99A1D5AA293}"/>
              </a:ext>
            </a:extLst>
          </p:cNvPr>
          <p:cNvSpPr/>
          <p:nvPr/>
        </p:nvSpPr>
        <p:spPr>
          <a:xfrm>
            <a:off x="640080" y="2169459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3813D54B-F7F7-404F-BEF4-42B17DD1A916}"/>
              </a:ext>
            </a:extLst>
          </p:cNvPr>
          <p:cNvSpPr/>
          <p:nvPr/>
        </p:nvSpPr>
        <p:spPr>
          <a:xfrm>
            <a:off x="640080" y="414169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3FAC5685-03C3-4B14-91AD-CF6B3610EB96}"/>
              </a:ext>
            </a:extLst>
          </p:cNvPr>
          <p:cNvSpPr/>
          <p:nvPr/>
        </p:nvSpPr>
        <p:spPr>
          <a:xfrm>
            <a:off x="1295400" y="242944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DengXian" panose="020B0503020204020204" pitchFamily="2" charset="-122"/>
                <a:cs typeface="Times New Roman" panose="02020603050405020304" pitchFamily="18" charset="0"/>
              </a:rPr>
              <a:t>Описание вклада каждого участника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8">
            <a:extLst>
              <a:ext uri="{FF2B5EF4-FFF2-40B4-BE49-F238E27FC236}">
                <a16:creationId xmlns:a16="http://schemas.microsoft.com/office/drawing/2014/main" id="{FCB53783-CC82-40A1-8653-E4CE76A09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979099"/>
              </p:ext>
            </p:extLst>
          </p:nvPr>
        </p:nvGraphicFramePr>
        <p:xfrm>
          <a:off x="747954" y="1174712"/>
          <a:ext cx="10803964" cy="4668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273392">
                  <a:extLst>
                    <a:ext uri="{9D8B030D-6E8A-4147-A177-3AD203B41FA5}">
                      <a16:colId xmlns:a16="http://schemas.microsoft.com/office/drawing/2014/main" val="2688164867"/>
                    </a:ext>
                  </a:extLst>
                </a:gridCol>
                <a:gridCol w="3765286">
                  <a:extLst>
                    <a:ext uri="{9D8B030D-6E8A-4147-A177-3AD203B41FA5}">
                      <a16:colId xmlns:a16="http://schemas.microsoft.com/office/drawing/2014/main" val="1531375757"/>
                    </a:ext>
                  </a:extLst>
                </a:gridCol>
                <a:gridCol w="3765286">
                  <a:extLst>
                    <a:ext uri="{9D8B030D-6E8A-4147-A177-3AD203B41FA5}">
                      <a16:colId xmlns:a16="http://schemas.microsoft.com/office/drawing/2014/main" val="1112974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Участник (ФИО)</a:t>
                      </a:r>
                      <a:endParaRPr lang="ru-RU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Зона ответственности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Что сделано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0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Саралидзе София Давидовна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Сбор и подготовка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Написан parser.py: подключение к VK API, </a:t>
                      </a: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резолв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паблика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по имени, постраничная выгрузка постов, обработка репостов, сохранение в </a:t>
                      </a: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posts.json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452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Недопекина Анна Сергеевна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Индекс и сервис поиска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Написан indexer.py: создание индекса в </a:t>
                      </a: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OpenSearch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 анализатором русского языка, пакетная загрузка документов</a:t>
                      </a:r>
                    </a:p>
                    <a:p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Написан search_api.py: HTTP-сервис на </a:t>
                      </a: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 </a:t>
                      </a: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эндпоинтом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реализующим полнотекстовый поиск по BM25 с возвратом </a:t>
                      </a: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ссылки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575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7360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решения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58587" y="1325879"/>
            <a:ext cx="2848983" cy="4303956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 w="19050">
            <a:solidFill>
              <a:srgbClr val="0057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432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3031809"/>
            <a:ext cx="109010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389120" y="1828621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38160" y="1764792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34E948-B8E2-48B0-9F7F-C48A0A0A1124}"/>
              </a:ext>
            </a:extLst>
          </p:cNvPr>
          <p:cNvSpPr txBox="1"/>
          <p:nvPr/>
        </p:nvSpPr>
        <p:spPr>
          <a:xfrm>
            <a:off x="1086522" y="1351526"/>
            <a:ext cx="1667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76959E-8195-48C1-A47F-0E454A7C38D0}"/>
              </a:ext>
            </a:extLst>
          </p:cNvPr>
          <p:cNvSpPr txBox="1"/>
          <p:nvPr/>
        </p:nvSpPr>
        <p:spPr>
          <a:xfrm>
            <a:off x="440167" y="1746505"/>
            <a:ext cx="23137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-config.py (токен, настройки)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-parser.py (скрипт)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-VK API (внешний источник)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9B73AC-512F-40EC-A6F1-757891A55629}"/>
              </a:ext>
            </a:extLst>
          </p:cNvPr>
          <p:cNvSpPr txBox="1"/>
          <p:nvPr/>
        </p:nvSpPr>
        <p:spPr>
          <a:xfrm>
            <a:off x="467062" y="3398347"/>
            <a:ext cx="1726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делает: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B14645-13A4-49FD-9801-06DECE53B61F}"/>
              </a:ext>
            </a:extLst>
          </p:cNvPr>
          <p:cNvSpPr txBox="1"/>
          <p:nvPr/>
        </p:nvSpPr>
        <p:spPr>
          <a:xfrm>
            <a:off x="408341" y="3825134"/>
            <a:ext cx="2473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обращается к VK API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скачивает посты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сохраняет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posts.json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0C97E9FB-526C-4E6F-AB2E-2A482A91C173}"/>
              </a:ext>
            </a:extLst>
          </p:cNvPr>
          <p:cNvSpPr/>
          <p:nvPr/>
        </p:nvSpPr>
        <p:spPr>
          <a:xfrm>
            <a:off x="4290508" y="1375202"/>
            <a:ext cx="2658932" cy="4254633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 w="19050">
            <a:solidFill>
              <a:srgbClr val="0057D9"/>
            </a:solidFill>
            <a:prstDash val="solid"/>
          </a:ln>
        </p:spPr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56B4AC-D0D6-489E-91C3-86EF01D500E3}"/>
              </a:ext>
            </a:extLst>
          </p:cNvPr>
          <p:cNvSpPr txBox="1"/>
          <p:nvPr/>
        </p:nvSpPr>
        <p:spPr>
          <a:xfrm>
            <a:off x="4927002" y="1378239"/>
            <a:ext cx="1667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Индексация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FEB11C-927C-4C73-8A39-6B2ADC8E786D}"/>
              </a:ext>
            </a:extLst>
          </p:cNvPr>
          <p:cNvSpPr txBox="1"/>
          <p:nvPr/>
        </p:nvSpPr>
        <p:spPr>
          <a:xfrm>
            <a:off x="4402120" y="1802565"/>
            <a:ext cx="23137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indexer.py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скрипт)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OpenSearch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076CBE-F37C-4BCA-9A61-24B29973FDCA}"/>
              </a:ext>
            </a:extLst>
          </p:cNvPr>
          <p:cNvSpPr txBox="1"/>
          <p:nvPr/>
        </p:nvSpPr>
        <p:spPr>
          <a:xfrm>
            <a:off x="4412428" y="3390091"/>
            <a:ext cx="1726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делает: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C2078E-B1C6-4B31-A3FE-94148DE06574}"/>
              </a:ext>
            </a:extLst>
          </p:cNvPr>
          <p:cNvSpPr txBox="1"/>
          <p:nvPr/>
        </p:nvSpPr>
        <p:spPr>
          <a:xfrm>
            <a:off x="4358640" y="3767679"/>
            <a:ext cx="29619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читает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posts.json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создаёт индекс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OpenSearch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загружает посты </a:t>
            </a: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E4F562A6-CBBB-4ED0-B106-B1C044BB8692}"/>
              </a:ext>
            </a:extLst>
          </p:cNvPr>
          <p:cNvSpPr/>
          <p:nvPr/>
        </p:nvSpPr>
        <p:spPr>
          <a:xfrm>
            <a:off x="6949440" y="3031809"/>
            <a:ext cx="109010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3CD3DC56-0471-48A4-B932-01EF7AB118CF}"/>
              </a:ext>
            </a:extLst>
          </p:cNvPr>
          <p:cNvSpPr/>
          <p:nvPr/>
        </p:nvSpPr>
        <p:spPr>
          <a:xfrm>
            <a:off x="8032378" y="1375202"/>
            <a:ext cx="2743200" cy="4254633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 w="19050">
            <a:solidFill>
              <a:srgbClr val="0057D9"/>
            </a:solidFill>
            <a:prstDash val="solid"/>
          </a:ln>
        </p:spPr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E3A690-E902-4A80-A6FD-E8657A9D5A18}"/>
              </a:ext>
            </a:extLst>
          </p:cNvPr>
          <p:cNvSpPr txBox="1"/>
          <p:nvPr/>
        </p:nvSpPr>
        <p:spPr>
          <a:xfrm>
            <a:off x="8771068" y="1374655"/>
            <a:ext cx="1667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(</a:t>
            </a:r>
            <a:r>
              <a:rPr lang="ru-RU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поиск)</a:t>
            </a:r>
            <a:r>
              <a:rPr lang="en-US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62FA28-4176-4E24-8BA2-0CE0A1634611}"/>
              </a:ext>
            </a:extLst>
          </p:cNvPr>
          <p:cNvSpPr txBox="1"/>
          <p:nvPr/>
        </p:nvSpPr>
        <p:spPr>
          <a:xfrm>
            <a:off x="8045824" y="1819870"/>
            <a:ext cx="274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search_api.py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скрипт)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веб-фреймворк)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сервер)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AFFB52-2AAC-4B9C-9878-15A50EA2E94C}"/>
              </a:ext>
            </a:extLst>
          </p:cNvPr>
          <p:cNvSpPr txBox="1"/>
          <p:nvPr/>
        </p:nvSpPr>
        <p:spPr>
          <a:xfrm>
            <a:off x="8018932" y="3394486"/>
            <a:ext cx="1726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делает: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84D17D-0A9C-4FC7-89D7-7AA7F5B330AC}"/>
              </a:ext>
            </a:extLst>
          </p:cNvPr>
          <p:cNvSpPr txBox="1"/>
          <p:nvPr/>
        </p:nvSpPr>
        <p:spPr>
          <a:xfrm>
            <a:off x="8045824" y="3767679"/>
            <a:ext cx="29619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запускает сервер</a:t>
            </a:r>
          </a:p>
          <a:p>
            <a:pPr marL="285750" indent="-28575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принимает запросы от пользователя </a:t>
            </a:r>
          </a:p>
          <a:p>
            <a:pPr marL="285750" indent="-28575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ищет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OpenSearch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возвращает результаты</a:t>
            </a:r>
          </a:p>
          <a:p>
            <a:pPr marL="285750" indent="-285750">
              <a:buFontTx/>
              <a:buChar char="-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2456" y="493776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0" y="1965960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Язык реализации всех скриптов и сервиса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0720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VK API 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40480" y="2807208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Официальный источник </a:t>
            </a:r>
            <a:r>
              <a:rPr lang="en-US" sz="1350" dirty="0" err="1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постов</a:t>
            </a:r>
            <a:r>
              <a:rPr lang="en-US" sz="13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паблика</a:t>
            </a:r>
            <a:r>
              <a:rPr lang="ru-RU" sz="13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1350" dirty="0" err="1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парсинга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364845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4F7F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48456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OpenSearch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0" y="3648456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Поисковая БД с русским анализатором и BM25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48970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4" name="Text 12"/>
          <p:cNvSpPr/>
          <p:nvPr/>
        </p:nvSpPr>
        <p:spPr>
          <a:xfrm>
            <a:off x="914400" y="4489704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05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1500" b="1" dirty="0">
                <a:solidFill>
                  <a:srgbClr val="005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40480" y="4489704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Веб-фреймворк для создания /</a:t>
            </a:r>
            <a:r>
              <a:rPr lang="ru-RU" sz="1350" dirty="0" err="1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search-эндпоинта</a:t>
            </a:r>
            <a:r>
              <a:rPr lang="ru-RU" sz="13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автоматической документации </a:t>
            </a:r>
            <a:r>
              <a:rPr lang="ru-RU" sz="1350" dirty="0" err="1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Swagger</a:t>
            </a:r>
            <a:r>
              <a:rPr lang="ru-RU" sz="13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UI 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33095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4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33095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7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840480" y="5330952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Запуск OpenSearch локально одной командой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22845C-552C-4E63-A8FE-E35D02F25826}"/>
              </a:ext>
            </a:extLst>
          </p:cNvPr>
          <p:cNvSpPr/>
          <p:nvPr/>
        </p:nvSpPr>
        <p:spPr>
          <a:xfrm>
            <a:off x="1295400" y="390627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16FC08-CE11-4EC0-960B-6FADB395D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717" y="1838620"/>
            <a:ext cx="9000565" cy="44618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3E32A7-9062-49C6-8D9D-F80DD798F333}"/>
              </a:ext>
            </a:extLst>
          </p:cNvPr>
          <p:cNvSpPr txBox="1"/>
          <p:nvPr/>
        </p:nvSpPr>
        <p:spPr>
          <a:xfrm>
            <a:off x="1743634" y="1192272"/>
            <a:ext cx="9152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Единственная сущность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Связей с другими таблицами нет - источник данных один (посты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паблика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ВК)</a:t>
            </a:r>
          </a:p>
        </p:txBody>
      </p:sp>
    </p:spTree>
    <p:extLst>
      <p:ext uri="{BB962C8B-B14F-4D97-AF65-F5344CB8AC3E}">
        <p14:creationId xmlns:p14="http://schemas.microsoft.com/office/powerpoint/2010/main" val="2248063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75895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 err="1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</a:t>
            </a:r>
            <a:r>
              <a:rPr lang="ru-RU" sz="30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работы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06419" y="1920240"/>
            <a:ext cx="10515600" cy="3749040"/>
          </a:xfrm>
          <a:prstGeom prst="roundRect">
            <a:avLst>
              <a:gd name="adj" fmla="val 1951"/>
            </a:avLst>
          </a:prstGeom>
          <a:solidFill>
            <a:srgbClr val="0A2A5E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1945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/search?q=абитуриент&amp;size=5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274320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E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"query": "абитуриент",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"count": 5,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"results": [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"score": 8.42,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"text": "Приёмная комиссия НИТУ МИСИС сообщает...",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"link": "https://vk.com/wall-XXXXXXXX_12345",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"date": 1737020400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0057D9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Итоги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80" y="2423160"/>
            <a:ext cx="201168" cy="20116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2377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Парсинг: собрано ≥5000 постов через официальный VK API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2990088"/>
            <a:ext cx="201168" cy="20116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9443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Индекс: OpenSearch с русским анализатором, BM25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68680" y="3557016"/>
            <a:ext cx="201168" cy="20116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51129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Сервис: /search отдаёт score, текст и ссылку на пост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431</Words>
  <Application>Microsoft Office PowerPoint</Application>
  <PresentationFormat>Широкоэкранный</PresentationFormat>
  <Paragraphs>90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Саралидзе София Давидовна</cp:lastModifiedBy>
  <cp:revision>11</cp:revision>
  <dcterms:created xsi:type="dcterms:W3CDTF">2026-07-17T10:53:10Z</dcterms:created>
  <dcterms:modified xsi:type="dcterms:W3CDTF">2026-07-17T15:38:27Z</dcterms:modified>
</cp:coreProperties>
</file>